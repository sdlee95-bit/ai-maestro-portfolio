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10"/>
    <p:sldId id="257" r:id="rId9"/>
    <p:sldId id="258" r:id="rId8"/>
    <p:sldId id="259" r:id="rId7"/>
    <p:sldId id="260" r:id="rId6"/>
    <p:sldId id="261" r:id="rId17"/>
    <p:sldId id="262" r:id="rId18"/>
    <p:sldId id="263" r:id="rId5"/>
    <p:sldId id="264" r:id="rId4"/>
    <p:sldId id="265" r:id="rId3"/>
    <p:sldId id="266" r:id="rId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2192000" cy="6858000"/>
  <p:notesSz cx="6858000" cy="9144000"/>
  <p:embeddedFontLst>
    <p:embeddedFont>
      <p:font typeface="공체 Bold" panose="020B0600000101010101" charset="-127"/>
      <p:bold r:id="rId11"/>
    </p:embeddedFont>
    <p:embeddedFont>
      <p:font typeface="페이퍼로지 4 Regular" charset="-127"/>
      <p:regular r:id="rId12"/>
    </p:embeddedFont>
    <p:embeddedFont>
      <p:font typeface="페이퍼로지 5 Medium" charset="-127"/>
      <p:regular r:id="rId13"/>
    </p:embeddedFont>
    <p:embeddedFont>
      <p:font typeface="페이퍼로지 6 SemiBold" charset="-127"/>
      <p:bold r:id="rId14"/>
    </p:embeddedFont>
    <p:embeddedFont>
      <p:font typeface="페이퍼로지 7 Bold" charset="-127"/>
      <p:bold r:id="rId15"/>
    </p:embeddedFont>
    <p:embeddedFont>
      <p:font typeface="페이퍼로지 9 Black" charset="-127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B95B"/>
    <a:srgbClr val="261CC1"/>
    <a:srgbClr val="1C4FA1"/>
    <a:srgbClr val="1A3263"/>
    <a:srgbClr val="C9BEFF"/>
    <a:srgbClr val="3A9AFF"/>
    <a:srgbClr val="76D2DB"/>
    <a:srgbClr val="8494FF"/>
    <a:srgbClr val="8FD3F1"/>
    <a:srgbClr val="7B9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6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15F2D-A159-6DD2-70AC-554F40FF5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456CB0-687E-ACB7-F1DD-EFA30F9B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18EB37-9FE5-BD3A-9728-2598F2440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3FE9E5-8ED7-B118-D65F-51E31D22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9101F4-12A7-82AA-F384-FD56A00A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17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97452-3191-5163-6BAB-D21D7664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50830-6BF2-C736-1FAD-A8195E1FD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1A273-0309-A203-34E9-F2A0F453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661224-BE79-8843-8254-DFE5AF77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BBB54C-0677-3747-F3C9-7D5112E5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96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82FA4-A58C-8FE3-21C1-2585292C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CC290B-87D7-2489-2F47-5657B1E2E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BDD2B0-0369-40D8-124C-CE82A4F1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277A1-5A0E-EC3F-9030-FC0B4D4D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DE148B-4C73-097F-F984-654C646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7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C5D50-F67F-B74C-C3A0-1AFF3C65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EC911-D93C-0013-A81A-CD8CEEE7A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BB8476-3D46-1046-7A18-4B48B0697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4ED9B3-96C5-633C-4949-AAD16482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AAB4F2-AF56-63D3-CCE5-0C11EDEB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007118-BD33-757D-96CA-FDB3A96F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30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7EDA1-2D2E-469D-28F5-60731E83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C52690-2B93-1FB1-80D9-76554A36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EAD8AA-4E07-3630-1595-551AE79D7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74D0BD-D25F-5D5B-E503-7E4BFD650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B6C832-6E3E-ACDE-609F-9A9B5EF74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43CE02-C710-1EC3-6FFC-442802FB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3F7D95-9549-4B34-F5E3-0EE34A2C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2C05C4-0344-66C3-C5CF-7845D5D4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9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FCA80-62F3-4FDB-EF27-349CDA9B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F79858-532D-C7FC-C37E-B71CFF4F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977369-2FAD-5BCD-8A11-B5F8C485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148CEB-25D4-7D77-9987-E6DD46D1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418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1E05D6E-C67B-DC0E-92F3-D56F17C0E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A152C0-6FFB-6FE9-E523-C5735F04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597B2-0C97-DCFD-20A1-71891534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F0BB8-4D6D-3EC8-C6A1-7996EAD62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87BDBA-19E5-53B9-A5F5-A07BA4764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43A215-558A-4A5D-CA79-665030B04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077607-D03D-FD35-CE51-F075CE09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2F3545-A752-97A7-E494-25FB7FCB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44F103-5D33-6878-3AB2-E9E399D1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17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D08AB-843B-9F9E-B286-B3076777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741488-FBE3-C56D-0275-21CA8E3F8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0386E0-CBD1-FA5C-1718-98ED521AA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2CE44C-162D-584B-1EB5-6C1D8059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A8D5E6-7CF1-E4BB-39ED-0A7841E2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69EF79-F130-C2F9-8F1C-265F47D4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84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34EAC-6D6B-8723-7D34-D5AAB10E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926A2A-6CDC-E594-859D-A40EE2D8D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CF95FB-2FDB-A172-1D2A-92D8F3D0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032A4-BE33-0890-BCF3-19DD597A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742C5B-722E-B58B-E297-87EE9DCA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005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1C0A08-9FC4-72CE-1B2B-C8A26AF4C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A99060-8C90-B595-E9B6-33F390417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55BE17-9190-9B75-81B7-4DFDBACB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91CE1B-290C-795D-9A9C-88F59928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74DAEB-B8D6-4974-2DDC-FC4D3C5D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3899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E2F870-46A3-0DEA-D631-49C90A507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D8508D-0B95-5752-BDCF-6D012A5B7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1CC2B-B05E-FBEE-78A1-5FD8CF586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2B572C-CB14-E919-CF43-022925244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427B49-3EB7-2BBA-A1D4-36C83403B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7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4FA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mpus.png"/>
          <p:cNvPicPr>
            <a:picLocks noChangeAspect="1"/>
          </p:cNvPicPr>
          <p:nvPr/>
        </p:nvPicPr>
        <p:blipFill>
          <a:blip r:embed="rId2"/>
          <a:srcRect l="18595" r="27766" b="2"/>
          <a:stretch>
            <a:fillRect/>
          </a:stretch>
        </p:blipFill>
        <p:spPr>
          <a:xfrm>
            <a:off x="6693408" y="0"/>
            <a:ext cx="55138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93408" y="0"/>
            <a:ext cx="5513832" cy="6858000"/>
          </a:xfrm>
          <a:prstGeom prst="rect">
            <a:avLst/>
          </a:prstGeom>
          <a:gradFill flip="none" rotWithShape="1">
            <a:gsLst>
              <a:gs pos="0">
                <a:srgbClr val="1C4FA1">
                  <a:alpha val="100000"/>
                </a:srgbClr>
              </a:gs>
              <a:gs pos="55000">
                <a:srgbClr val="1C4FA1">
                  <a:alpha val="80000"/>
                </a:srgbClr>
              </a:gs>
              <a:gs pos="100000">
                <a:srgbClr val="1C4FA1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nu_emblem_white.png"/>
          <p:cNvPicPr>
            <a:picLocks noChangeAspect="1"/>
          </p:cNvPicPr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7941564" y="1700784"/>
            <a:ext cx="3017520" cy="301752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60120" y="2276856"/>
            <a:ext cx="155448" cy="155448"/>
          </a:xfrm>
          <a:prstGeom prst="ellipse">
            <a:avLst/>
          </a:prstGeom>
          <a:solidFill>
            <a:srgbClr val="2DA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52144" y="215798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0" spc="-50">
                <a:solidFill>
                  <a:srgbClr val="2DA7E0"/>
                </a:solidFill>
                <a:latin typeface="페이퍼로지 9 Black"/>
                <a:ea typeface="페이퍼로지 9 Black"/>
                <a:cs typeface="페이퍼로지 9 Black"/>
              </a:rPr>
              <a:t xml:space="preserve"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624328"/>
            <a:ext cx="8229600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6000" b="0" spc="-12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주요업무계획 보고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" y="3877056"/>
            <a:ext cx="6135624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144" y="45354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spc="30">
                <a:solidFill>
                  <a:srgbClr val="9FC4E8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발표 부서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8256" y="4498848"/>
            <a:ext cx="3840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총무과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spc="30">
                <a:solidFill>
                  <a:srgbClr val="9FC4E8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보고 일자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4882896"/>
            <a:ext cx="3840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2026. 3. 16. (월)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4F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mpus_gray.png"/>
          <p:cNvPicPr>
            <a:picLocks noChangeAspect="1"/>
          </p:cNvPicPr>
          <p:nvPr/>
        </p:nvPicPr>
        <p:blipFill>
          <a:blip r:embed="rId2">
            <a:alphaModFix amt="15000"/>
          </a:blip>
          <a:srcRect t="33915" b="50083"/>
          <a:stretch>
            <a:fillRect/>
          </a:stretch>
        </p:blipFill>
        <p:spPr>
          <a:xfrm>
            <a:off x="0" y="0"/>
            <a:ext cx="12191695" cy="129844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2920" y="329184"/>
            <a:ext cx="155448" cy="155448"/>
          </a:xfrm>
          <a:prstGeom prst="ellipse">
            <a:avLst/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9224" y="274320"/>
            <a:ext cx="3511296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800" b="0" spc="10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8528" y="64008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Table of Contents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710928" y="201168"/>
            <a:ext cx="0" cy="841247"/>
          </a:xfrm>
          <a:prstGeom prst="line">
            <a:avLst/>
          </a:prstGeom>
          <a:ln w="12700">
            <a:solidFill>
              <a:srgbClr val="9FC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838944" y="23774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4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80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
UNIVERSITY</a:t>
            </a:r>
          </a:p>
        </p:txBody>
      </p:sp>
      <p:pic>
        <p:nvPicPr>
          <p:cNvPr id="9" name="Picture 8" descr="pnu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4" y="274320"/>
            <a:ext cx="676656" cy="676656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1746504" y="3017520"/>
            <a:ext cx="4020159" cy="0"/>
          </a:xfrm>
          <a:prstGeom prst="line">
            <a:avLst/>
          </a:prstGeom>
          <a:ln w="15875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5031" y="3017520"/>
            <a:ext cx="4020160" cy="0"/>
          </a:xfrm>
          <a:prstGeom prst="line">
            <a:avLst/>
          </a:prstGeom>
          <a:ln w="15875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52143" y="27523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766495" y="3456432"/>
            <a:ext cx="43676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4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2025학년도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766495" y="3785615"/>
            <a:ext cx="43676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spc="-5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주요 업무 성과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61287" y="4828031"/>
            <a:ext cx="512064" cy="0"/>
          </a:xfrm>
          <a:prstGeom prst="line">
            <a:avLst/>
          </a:prstGeom>
          <a:ln w="15875">
            <a:solidFill>
              <a:srgbClr val="7FA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-766495" y="4974336"/>
            <a:ext cx="43676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BFDAF3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인력·교육·안전·교통·감사·청렴
6개 과제 추진 결과</a:t>
            </a:r>
          </a:p>
        </p:txBody>
      </p:sp>
      <p:sp>
        <p:nvSpPr>
          <p:cNvPr id="17" name="Oval 16"/>
          <p:cNvSpPr/>
          <p:nvPr/>
        </p:nvSpPr>
        <p:spPr>
          <a:xfrm>
            <a:off x="5830671" y="27523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2031" y="3456432"/>
            <a:ext cx="43676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4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2026학년도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2031" y="3785615"/>
            <a:ext cx="43676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spc="-5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주요 업무 추진계획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39815" y="4828031"/>
            <a:ext cx="512064" cy="0"/>
          </a:xfrm>
          <a:prstGeom prst="line">
            <a:avLst/>
          </a:prstGeom>
          <a:ln w="15875">
            <a:solidFill>
              <a:srgbClr val="7FA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12031" y="4974336"/>
            <a:ext cx="43676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BFDAF3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통합대학 출범 대비
4개 중점 과제</a:t>
            </a:r>
          </a:p>
        </p:txBody>
      </p:sp>
      <p:sp>
        <p:nvSpPr>
          <p:cNvPr id="22" name="Oval 21"/>
          <p:cNvSpPr/>
          <p:nvPr/>
        </p:nvSpPr>
        <p:spPr>
          <a:xfrm>
            <a:off x="10509199" y="275234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0559" y="3456432"/>
            <a:ext cx="43676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4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총장공약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0559" y="3785615"/>
            <a:ext cx="43676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spc="-5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공약사업 추진현황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518343" y="4828031"/>
            <a:ext cx="512064" cy="0"/>
          </a:xfrm>
          <a:prstGeom prst="line">
            <a:avLst/>
          </a:prstGeom>
          <a:ln w="15875">
            <a:solidFill>
              <a:srgbClr val="7FA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90559" y="4974336"/>
            <a:ext cx="43676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>
                <a:solidFill>
                  <a:srgbClr val="BFDAF3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총무과 소관 14개 공약
이행 현황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1C4FA1"/>
            </a:gs>
            <a:gs pos="60000">
              <a:srgbClr val="1C4FA1">
                <a:alpha val="85000"/>
              </a:srgbClr>
            </a:gs>
            <a:gs pos="100000">
              <a:srgbClr val="1C4FA1">
                <a:alpha val="7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890107" y="287578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01568"/>
            <a:ext cx="103628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0" spc="-10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2025학년도 주요 업무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30">
                <a:solidFill>
                  <a:srgbClr val="BFDAF3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인력 운영 · 교육훈련 · 방범 · 교통 · 감사 · 청렴  |  6개 과제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2025학년도 주요 업무 성과 총괄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613" y="1273115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9870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핵심 성과 지표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84579"/>
            <a:ext cx="3541775" cy="969264"/>
          </a:xfrm>
          <a:prstGeom prst="roundRect">
            <a:avLst>
              <a:gd name="adj" fmla="val 6603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58368" y="1584579"/>
            <a:ext cx="50292" cy="969264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1685163"/>
            <a:ext cx="326745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22.4→82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092528"/>
            <a:ext cx="3267456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청렴 법정교육 이수율
(법정기준 75% 초과 달성)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8159" y="1584579"/>
            <a:ext cx="3541775" cy="969264"/>
          </a:xfrm>
          <a:prstGeom prst="roundRect">
            <a:avLst>
              <a:gd name="adj" fmla="val 6603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328159" y="1584579"/>
            <a:ext cx="50292" cy="969264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11039" y="1685163"/>
            <a:ext cx="326745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5,009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개실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1039" y="2092528"/>
            <a:ext cx="3267456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모바일 출입관리시스템
3개 캠퍼스 구축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7951" y="1584579"/>
            <a:ext cx="3541775" cy="969264"/>
          </a:xfrm>
          <a:prstGeom prst="roundRect">
            <a:avLst>
              <a:gd name="adj" fmla="val 6603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997951" y="1584579"/>
            <a:ext cx="50292" cy="969264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80831" y="1685163"/>
            <a:ext cx="326745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739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0831" y="2092528"/>
            <a:ext cx="3267456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CCTV 추가·교체 설치
취약지역 영상감시 강화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663571"/>
            <a:ext cx="3541775" cy="969264"/>
          </a:xfrm>
          <a:prstGeom prst="roundRect">
            <a:avLst>
              <a:gd name="adj" fmla="val 6603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58368" y="2663571"/>
            <a:ext cx="50292" cy="969264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2764155"/>
            <a:ext cx="326745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70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개소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3171520"/>
            <a:ext cx="3267456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전기차 충전소 구축
전용주차면 194면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8159" y="2663571"/>
            <a:ext cx="3541775" cy="969264"/>
          </a:xfrm>
          <a:prstGeom prst="roundRect">
            <a:avLst>
              <a:gd name="adj" fmla="val 6603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4328159" y="2663571"/>
            <a:ext cx="50292" cy="969264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11039" y="2764155"/>
            <a:ext cx="326745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272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1039" y="3171520"/>
            <a:ext cx="3267456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PNU 현장체험 자율연수
69개 팀 참여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7951" y="2663571"/>
            <a:ext cx="3541775" cy="969264"/>
          </a:xfrm>
          <a:prstGeom prst="roundRect">
            <a:avLst>
              <a:gd name="adj" fmla="val 6603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997951" y="2663571"/>
            <a:ext cx="50292" cy="969264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80831" y="2764155"/>
            <a:ext cx="326745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135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0831" y="3171520"/>
            <a:ext cx="3267456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일상감사 실시
('24년 100건 → 35% 증가)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613" y="4009838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3986593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3870579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6개 과제 추진 결과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321302"/>
            <a:ext cx="3529583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658368" y="4321302"/>
            <a:ext cx="45720" cy="93268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59" y="4439808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① 행정직원 총괄 관리 기반 구축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" y="4695840"/>
            <a:ext cx="3266236" cy="446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인력 운영 실태 전수조사 체계 정립 · 인사정보 시스템 개선 방향 도출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34255" y="4321302"/>
            <a:ext cx="3529583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4334255" y="4321302"/>
            <a:ext cx="45720" cy="93268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98847" y="4439808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② 직원 필수 역량 교육훈련 고도화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7" y="4695840"/>
            <a:ext cx="3266236" cy="446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소통·협업, 기획력 풀케어, 직무교육 지원 다양화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10144" y="4321302"/>
            <a:ext cx="3529583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8010144" y="4321302"/>
            <a:ext cx="45720" cy="93268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74736" y="4439808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③ 모바일 출입관리·방범 인프라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74736" y="4695840"/>
            <a:ext cx="3266236" cy="446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모바일 앱 기반 출입관리 구축 · CCTV 및 방범설비 확충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382006"/>
            <a:ext cx="3529583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658368" y="5382006"/>
            <a:ext cx="45720" cy="93268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59" y="5500512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④ 교통 인프라 정비·안전관리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59" y="5756544"/>
            <a:ext cx="3266236" cy="446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전기차 충전 인프라 · 주차 정비 · 교통안전 마스터플랜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34255" y="5382006"/>
            <a:ext cx="3529583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334255" y="5382006"/>
            <a:ext cx="45720" cy="93268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498847" y="5500512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⑤ 감사행정 내실화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8847" y="5756544"/>
            <a:ext cx="3266236" cy="446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전문 감사반 운영 · 공익신고 및 청원심의 제도 기반 마련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10144" y="5382006"/>
            <a:ext cx="3529583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8010144" y="5382006"/>
            <a:ext cx="45720" cy="93268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174736" y="5500512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⑥ 참여형 청렴 문화 확산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74736" y="5756544"/>
            <a:ext cx="3266236" cy="446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청렴 선포식 · 자체 온라인 교육과정 개발 · 권익위 업무협약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효율적인 인력 운영을 위한 행정직원 총괄 관리 기반 구축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613" y="1273115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9870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6437376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주요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584579"/>
            <a:ext cx="6382512" cy="3282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(실태조사 체계 정립)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조사 항목을 정비하고 </a:t>
            </a: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연 2회 정기 조사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를 실시하여 총무과 관리 외 부서 자체 채용 인력을 포함한 전 직원 현황 파악 기반 마련</a:t>
            </a:r>
          </a:p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40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분산 관리되던 인력정보를 통합 파악하여 관리체계 개선 논의의 기초 자료 확보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(시스템 개선 방향 검토)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코러스(KORUS) 인사마스터·교육정보시스템을 활용한 부서 자체 채용 직원 식별·구분 데이터 표기 방안 검토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(노무 리스크 대응)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최저임금액 및 산입범위 자료 게시로 「최저임금법」상 주지의무 이행 및 임금 관련 분쟁 사전 예방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613" y="5189643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5166398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5050383"/>
            <a:ext cx="6437376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추진 근거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5501106"/>
            <a:ext cx="6382512" cy="800557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5583402"/>
            <a:ext cx="6217920" cy="635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2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(’25. 4.)</a:t>
            </a:r>
            <a:r>
              <a:rPr sz="12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</a:t>
            </a:r>
            <a:r>
              <a:rPr sz="12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’25.4.1. 기준 대학회계 재원 부서 채용 무기계약직 현황 조사(총무과-6441)
(’25. 8.) ’24.12.31. 기준 공공부문 비공무원 근로자 정기실태조사(총무과-14345)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71231" y="1133856"/>
            <a:ext cx="3968496" cy="2231136"/>
          </a:xfrm>
          <a:prstGeom prst="roundRect">
            <a:avLst>
              <a:gd name="adj" fmla="val 4098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08975" y="1371600"/>
            <a:ext cx="3493008" cy="271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600" b="0" spc="-3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한계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08975" y="1734820"/>
            <a:ext cx="566928" cy="0"/>
          </a:xfrm>
          <a:prstGeom prst="line">
            <a:avLst/>
          </a:prstGeom>
          <a:ln w="25400">
            <a:solidFill>
              <a:srgbClr val="2DA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08975" y="1862836"/>
            <a:ext cx="3493008" cy="1264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통합 인사정보 DB의 실질적 운영 단계 미진 — 기술적 제약·부서별 여건 차이로 전 부서 참여 미도달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재원·부서별 분산 관리에 따른 급여 체계, 무기계약 전환 기준 등 </a:t>
            </a: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관리 사각지대</a:t>
            </a: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발생 가능성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71231" y="3529584"/>
            <a:ext cx="3968496" cy="274320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08975" y="3767328"/>
            <a:ext cx="3493008" cy="271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600" b="0" spc="-30">
                <a:solidFill>
                  <a:srgbClr val="262626"/>
                </a:solidFill>
                <a:latin typeface="페이퍼로지 9 Black"/>
                <a:ea typeface="페이퍼로지 9 Black"/>
                <a:cs typeface="페이퍼로지 9 Black"/>
              </a:rPr>
              <a:t xml:space="preserve">개선 방향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08975" y="4130548"/>
            <a:ext cx="566928" cy="0"/>
          </a:xfrm>
          <a:prstGeom prst="line">
            <a:avLst/>
          </a:prstGeom>
          <a:ln w="25400">
            <a:solidFill>
              <a:srgbClr val="1C4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08975" y="4258564"/>
            <a:ext cx="3493008" cy="1776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1C4FA1"/>
              </a:buClr>
              <a:buFont typeface="Arial"/>
              <a:buChar char="•"/>
            </a:pP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지속적 조사를 통한 데이터 정합성 제고 및 시스템 개선 자료 활용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1C4FA1"/>
              </a:buClr>
              <a:buFont typeface="Arial"/>
              <a:buChar char="•"/>
            </a:pP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기관별 운영 자율성은 존중하되 인사 관리의 기본 일관성 확보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1C4FA1"/>
              </a:buClr>
              <a:buFont typeface="Arial"/>
              <a:buChar char="•"/>
            </a:pP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유관 부서 중심 </a:t>
            </a:r>
            <a:r>
              <a:rPr sz="11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T/F팀 구성</a:t>
            </a: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을 통한 효율적 관리방안 검토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1C4FA1"/>
              </a:buClr>
              <a:buFont typeface="Arial"/>
              <a:buChar char="•"/>
            </a:pP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’26년 통합대학 「(가칭)직원 인사운영 지침」 마련 과제로 연계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직원 필수 역량(협업·직무) 강화를 위한 교육훈련 고도화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613" y="1273115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9870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4대 영역별 추진 성과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84579"/>
            <a:ext cx="2610611" cy="1335024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58368" y="1584579"/>
            <a:ext cx="45720" cy="133502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1703085"/>
            <a:ext cx="2347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소통·협업 역량 강화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959117"/>
            <a:ext cx="2347264" cy="848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수평적 파트너십·세대 간 소통 중심 소통·공감 교육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집합교육 1회 76명 / 사이버교육 370명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5283" y="1584579"/>
            <a:ext cx="2610611" cy="1335024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415283" y="1584579"/>
            <a:ext cx="45720" cy="133502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79875" y="1703085"/>
            <a:ext cx="2347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PNU 현장 체험 연수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9875" y="1959117"/>
            <a:ext cx="2347264" cy="848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국내 우수기관 벤치마킹 자기주도형 자율연수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272명(69개 팀) 참여 / 지원 52,289천원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199" y="1584579"/>
            <a:ext cx="2610611" cy="1335024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172199" y="1584579"/>
            <a:ext cx="45720" cy="133502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36791" y="1703085"/>
            <a:ext cx="2347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필수·공통 역량(기획력)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1" y="1959117"/>
            <a:ext cx="2347264" cy="848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‘강의–문제출제–평가–피드백’ 풀케어 관리 체제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보고서 피드백 6회 335명 / 면접교육 1회 62명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9115" y="1584579"/>
            <a:ext cx="2610611" cy="1335024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929115" y="1584579"/>
            <a:ext cx="45720" cy="133502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93707" y="1703085"/>
            <a:ext cx="2347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직무교육 지원 다양화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3707" y="1959117"/>
            <a:ext cx="2347264" cy="848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외부교육훈련 지원액 1인당 40만원으로 상향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직무능력개발비 54건(39명) 8,662천원 지원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0506" y="3216823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194685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084195"/>
            <a:ext cx="5358383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외부 교육훈련기관 위탁 참여 현황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58368" y="3516503"/>
          <a:ext cx="5577839" cy="5852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50238"/>
                <a:gridCol w="1115568"/>
                <a:gridCol w="1115568"/>
                <a:gridCol w="780897"/>
                <a:gridCol w="1115568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국가공무원인재개발원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중앙교육연수원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국립중앙도서관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그 외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25명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20명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9명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39명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93명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6477802" y="3161959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55664" y="3139821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029331"/>
            <a:ext cx="4864607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한계 및 개선 방향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3" y="3461639"/>
            <a:ext cx="4809744" cy="907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승진평가 기준인 기획력·보고서 작성 등 기존 필수 역량 교육에 더해, 고등교육 환경 변화 대응을 위한 </a:t>
            </a:r>
            <a:r>
              <a:rPr sz="14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AI 활용 교육 강화 및 대상자 확대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필요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553712"/>
            <a:ext cx="10881359" cy="588568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4636008"/>
            <a:ext cx="10716767" cy="42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2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2025년 교육훈련 만족도 조사 결과 향후 희망교육 1위로 </a:t>
            </a:r>
            <a:r>
              <a:rPr sz="12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디지털 역량 강화 교육</a:t>
            </a:r>
            <a:r>
              <a:rPr sz="12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선정 → Ⅱ-2 「AI 대전환에 따른 미래 대비 역량 교육 강화」 과제로 연계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모바일 기반 출입 관리시스템 구축 및 방범 인프라 확충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133856"/>
            <a:ext cx="2624327" cy="896112"/>
          </a:xfrm>
          <a:prstGeom prst="roundRect">
            <a:avLst>
              <a:gd name="adj" fmla="val 7142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58368" y="1133856"/>
            <a:ext cx="50292" cy="896112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1234440"/>
            <a:ext cx="235000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5,009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개실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568653"/>
            <a:ext cx="2350008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모바일 출입 관리시스템 구축 (3개 캠퍼스)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1" y="1133856"/>
            <a:ext cx="2624327" cy="896112"/>
          </a:xfrm>
          <a:prstGeom prst="roundRect">
            <a:avLst>
              <a:gd name="adj" fmla="val 7142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410711" y="1133856"/>
            <a:ext cx="50292" cy="896112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93591" y="1234440"/>
            <a:ext cx="235000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739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1739874"/>
            <a:ext cx="2350008" cy="171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CCTV 추가 및 노후 장비 교체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133856"/>
            <a:ext cx="2624327" cy="896112"/>
          </a:xfrm>
          <a:prstGeom prst="roundRect">
            <a:avLst>
              <a:gd name="adj" fmla="val 7142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163055" y="1133856"/>
            <a:ext cx="50292" cy="896112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45936" y="1234440"/>
            <a:ext cx="235000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1,459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개소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568653"/>
            <a:ext cx="2350008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방범·출입통제시스템 신규·재설치 (64개동)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133856"/>
            <a:ext cx="2624327" cy="896112"/>
          </a:xfrm>
          <a:prstGeom prst="roundRect">
            <a:avLst>
              <a:gd name="adj" fmla="val 7142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915400" y="1133856"/>
            <a:ext cx="50292" cy="896112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98280" y="1234440"/>
            <a:ext cx="235000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19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739874"/>
            <a:ext cx="2350008" cy="171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시험기간 안전순찰대 운영 (1·2학기)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613" y="2333819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310574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2194560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주요 성과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2645282"/>
            <a:ext cx="10607039" cy="2145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(모바일 출입 관리체계 구축)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교육정보시스템–무인경비시스템 연계 프로그램 개발로 </a:t>
            </a: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모바일 앱 기반 건물 출입 관리시스템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구축(’25.), 신축·리모델링 시 수시 업로드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(CCTV 확대·취약지역 개선)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캠퍼스별 건물 내부 및 외곽 취약지역 중심 추가 설치·노후 교체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(방범·출입통제 인프라 확충)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노후 설비 단계적 교체 및 신축 건물 출입통제시스템 설치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(선제적 안전관리)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경비 일일 순찰 외 시험기간 안전순찰대 운영, 캠퍼스 전체 불법카메라 설치 여부 전문기관 점검(’25. 11.)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613" y="4948355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925110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809096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한계 및 ’26년 연계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259819"/>
            <a:ext cx="10607039" cy="953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40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리모델링·증축 시 방범·출입통제·CCTV 설치비가 설계 단계에 미반영되어 추가 공사비 발생 → </a:t>
            </a:r>
            <a:r>
              <a:rPr sz="1400" b="1">
                <a:solidFill>
                  <a:srgbClr val="1C4FA1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시설과와 사전 협의</a:t>
            </a:r>
            <a:r>
              <a:rPr sz="140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 추진</a:t>
            </a:r>
          </a:p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40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부산교대 통합 대비 방범시스템 통합 계약 및 출입 통제 기준 정비 → 4개 캠퍼스 무인경비시스템 통합 계약 추진(’26. 8월~)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교통 인프라 정비 및 현장 중심 안전관리 강화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0506" y="1266484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4346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5449824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전기차 충전 인프라 구축 현황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566164"/>
          <a:ext cx="5669277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47241"/>
                <a:gridCol w="907084"/>
                <a:gridCol w="907084"/>
                <a:gridCol w="1247241"/>
                <a:gridCol w="1360627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캠퍼스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급속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완속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충전소 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전용주차면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부산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4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48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52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143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양산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12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13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35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밀양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4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5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16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합계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6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64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70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194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32688" y="3120644"/>
            <a:ext cx="5394960" cy="595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25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관련 법령에 따른 법적 설치 의무 이행 및 친환경 교통환경 조성 기반 마련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0506" y="3867348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845210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734720"/>
            <a:ext cx="5449824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주차 인프라 정비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167028"/>
            <a:ext cx="5394960" cy="641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25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노후 주차정산기 5대 교체(정문·무지개문·남문·북문)</a:t>
            </a:r>
          </a:p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25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유인 주차부스 3개소 철거 → 정산 속도 및 운전자 시야 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0506" y="4996029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973891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863401"/>
            <a:ext cx="5449824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마스터플랜 후속 조치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95709"/>
            <a:ext cx="5669280" cy="800557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5378005"/>
            <a:ext cx="5504688" cy="635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2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부산대학교 장전캠퍼스 교통안전 마스터플랜 최종보고서(’25.) 결과를 토대로 </a:t>
            </a:r>
            <a:r>
              <a:rPr sz="12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단기·중장기 과제를 구분</a:t>
            </a:r>
            <a:r>
              <a:rPr sz="12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하고, 관련 부서 협의를 통해 재원 확보 등 단계적으로 추진 예정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69242" y="1266484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1244346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133856"/>
            <a:ext cx="4773167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교통안전 관리 강화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47104" y="1566164"/>
            <a:ext cx="4992623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547104" y="1566164"/>
            <a:ext cx="45720" cy="1133856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11696" y="1684670"/>
            <a:ext cx="4729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교통안전 마스터플랜 용역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1940702"/>
            <a:ext cx="4729276" cy="647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부산캠퍼스 교통·보행·주차환경 전반 중장기 개선 로드맵(안) 마련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7104" y="2828036"/>
            <a:ext cx="4992623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547104" y="2828036"/>
            <a:ext cx="45720" cy="1133856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11696" y="2946542"/>
            <a:ext cx="4729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전문기관 합동 안전점검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1696" y="3202574"/>
            <a:ext cx="4729276" cy="647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한국교통안전공단 교통안전 실태점검(’25.)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보도 신설·교차로 구조 개선·시설물 정비·노후 도로 재포장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47104" y="4089907"/>
            <a:ext cx="4992623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547104" y="4089907"/>
            <a:ext cx="45720" cy="1133856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711696" y="4208414"/>
            <a:ext cx="4729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현장 중심 교통안전관리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1696" y="4464446"/>
            <a:ext cx="4729276" cy="647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경찰서 합동 무등록 이륜차 집중 단속(’25.10~12.)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교통안전지킴이 운영(학기별 6명)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7104" y="5333492"/>
            <a:ext cx="4992623" cy="553237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5415788"/>
            <a:ext cx="4828031" cy="3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(한계)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부산교대 통합 대비 주차요금·감면기준 및 교통관리 운영 방식 차이에 따른 혼선 방지를 위한 기준 정비 추진(’26. 9월~)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감사 및 민원 제도 기반 마련을 통한 감사행정 내실화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613" y="1273115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9870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자체 감사를 통한 조직 내부통제 및 책임성 강화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584579"/>
            <a:ext cx="10607039" cy="650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적발 위주 감사를 지양하고 조직 운영의 결함을 진단하여 </a:t>
            </a:r>
            <a:r>
              <a:rPr sz="14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이행가능한 개선 가이드라인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을 제시함으로써 기관 운영의 효율성 제고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2198827"/>
          <a:ext cx="10881358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4576"/>
                <a:gridCol w="979322"/>
                <a:gridCol w="979322"/>
                <a:gridCol w="7508138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감사 유형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’24년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’25년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주요 변화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정기감사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3회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1회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전문 감사반 구성 — 내부위원 4명 + </a:t>
                      </a:r>
                      <a:r>
                        <a:rPr sz="110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외부 감사 전문 인력 4명</a:t>
                      </a: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(5급 2·6급 2)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사안감사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1건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11건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신분상 : 경징계 4명·경고 2명·주의 25명 / 행정상 : 통보 3건·시정 2건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일상감사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100건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135건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구매·공사·용역 감사 확대, </a:t>
                      </a:r>
                      <a:r>
                        <a:rPr sz="110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인사채용 시 일상감사 신설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복무감사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—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9회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공직기강·행동강령 이행실태 점검 7회, 외부강의 신고 실태조사 2회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80506" y="4562591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540453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429963"/>
            <a:ext cx="5925312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공익신고·민원 처리 제도 기반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862271"/>
            <a:ext cx="5870448" cy="1686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3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「부산대학교 공익신고 처리 및 신고자 보호 등에 관한 규정」 제정(’25. 9. 29.)</a:t>
            </a:r>
          </a:p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15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공익신고 범위 지정, 공익신고센터 설치, 공익신고책임관 지정</a:t>
            </a:r>
          </a:p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15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상담·접수 절차, 조사·처리, 신고자 보호, 보상금·포상금에 관한 사항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3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「청원심의회 운영 지침」 제정(’25. 7. 29.) · 교직원 행동강령 갑질 근절 방안 반영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4304" y="4429963"/>
            <a:ext cx="4535423" cy="1810512"/>
          </a:xfrm>
          <a:prstGeom prst="roundRect">
            <a:avLst>
              <a:gd name="adj" fmla="val 505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42048" y="4667707"/>
            <a:ext cx="4059935" cy="271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600" b="0" spc="-3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한계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42048" y="5030927"/>
            <a:ext cx="566927" cy="0"/>
          </a:xfrm>
          <a:prstGeom prst="line">
            <a:avLst/>
          </a:prstGeom>
          <a:ln w="25400">
            <a:solidFill>
              <a:srgbClr val="2DA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42048" y="5158943"/>
            <a:ext cx="4059935" cy="843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사안조사 발생 건수가 전년 대비 급증하여 </a:t>
            </a: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사안감사 적기 처리</a:t>
            </a: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에 우선 대응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감사팀 인력 부족으로 연내 계획된 </a:t>
            </a: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종합감사 미완료</a:t>
            </a: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→ Ⅱ-4 감사체계 확립 과제로 연계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참여형 청렴 문화 확산을 통한 공동체 청렴 문화 조성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613" y="1273115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9870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청렴 법정교육 이수율 개선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84579"/>
            <a:ext cx="5093207" cy="1847088"/>
          </a:xfrm>
          <a:prstGeom prst="roundRect">
            <a:avLst>
              <a:gd name="adj" fmla="val 3960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1703451"/>
            <a:ext cx="47640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0" spc="30">
                <a:solidFill>
                  <a:srgbClr val="70707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AS-IS  ’24년 (교육부진기관)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913762"/>
            <a:ext cx="4764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200" b="0" spc="-50">
                <a:solidFill>
                  <a:srgbClr val="707070"/>
                </a:solidFill>
                <a:latin typeface="페이퍼로지 9 Black"/>
                <a:ea typeface="페이퍼로지 9 Black"/>
                <a:cs typeface="페이퍼로지 9 Black"/>
              </a:rPr>
              <a:t xml:space="preserve">22.38%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316099"/>
            <a:ext cx="47640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46304" indent="-146304">
              <a:lnSpc>
                <a:spcPct val="128000"/>
              </a:lnSpc>
              <a:spcBef>
                <a:spcPts val="200"/>
              </a:spcBef>
              <a:buClr>
                <a:srgbClr val="707070"/>
              </a:buClr>
              <a:buFont typeface="Arial"/>
              <a:buChar char="•"/>
            </a:pPr>
            <a:r>
              <a:rPr sz="12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PC전용 교육과정 — 모바일 과정 부재</a:t>
            </a:r>
          </a:p>
          <a:p>
            <a:pPr marL="146304" indent="-146304">
              <a:lnSpc>
                <a:spcPct val="128000"/>
              </a:lnSpc>
              <a:spcBef>
                <a:spcPts val="200"/>
              </a:spcBef>
              <a:buClr>
                <a:srgbClr val="707070"/>
              </a:buClr>
              <a:buFont typeface="Arial"/>
              <a:buChar char="•"/>
            </a:pPr>
            <a:r>
              <a:rPr sz="12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개별 이수 → 증빙자료 제출 → 인정</a:t>
            </a:r>
          </a:p>
          <a:p>
            <a:pPr marL="146304" indent="-146304">
              <a:lnSpc>
                <a:spcPct val="128000"/>
              </a:lnSpc>
              <a:spcBef>
                <a:spcPts val="200"/>
              </a:spcBef>
              <a:buClr>
                <a:srgbClr val="707070"/>
              </a:buClr>
              <a:buFont typeface="Arial"/>
              <a:buChar char="•"/>
            </a:pPr>
            <a:r>
              <a:rPr sz="12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부진 기관 모니터링 체계 부재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584579"/>
            <a:ext cx="5093207" cy="1847088"/>
          </a:xfrm>
          <a:prstGeom prst="roundRect">
            <a:avLst>
              <a:gd name="adj" fmla="val 3960"/>
            </a:avLst>
          </a:prstGeom>
          <a:solidFill>
            <a:srgbClr val="DCEAF7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11112" y="1703451"/>
            <a:ext cx="47640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0" spc="30">
                <a:solidFill>
                  <a:srgbClr val="1C4FA1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TO-BE  ’25년 (법정기준 75% 초과)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1913762"/>
            <a:ext cx="4764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2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316099"/>
            <a:ext cx="476402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46304" indent="-146304">
              <a:lnSpc>
                <a:spcPct val="128000"/>
              </a:lnSpc>
              <a:spcBef>
                <a:spcPts val="200"/>
              </a:spcBef>
              <a:buClr>
                <a:srgbClr val="1C4FA1"/>
              </a:buClr>
              <a:buFont typeface="Arial"/>
              <a:buChar char="•"/>
            </a:pPr>
            <a:r>
              <a:rPr sz="12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자체 온라인(모바일 겸용) 과정 개발</a:t>
            </a:r>
          </a:p>
          <a:p>
            <a:pPr marL="146304" indent="-146304">
              <a:lnSpc>
                <a:spcPct val="128000"/>
              </a:lnSpc>
              <a:spcBef>
                <a:spcPts val="200"/>
              </a:spcBef>
              <a:buClr>
                <a:srgbClr val="1C4FA1"/>
              </a:buClr>
              <a:buFont typeface="Arial"/>
              <a:buChar char="•"/>
            </a:pPr>
            <a:r>
              <a:rPr sz="12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부산대 교육플랫폼 이수 → 일괄 인정</a:t>
            </a:r>
          </a:p>
          <a:p>
            <a:pPr marL="146304" indent="-146304">
              <a:lnSpc>
                <a:spcPct val="128000"/>
              </a:lnSpc>
              <a:spcBef>
                <a:spcPts val="200"/>
              </a:spcBef>
              <a:buClr>
                <a:srgbClr val="1C4FA1"/>
              </a:buClr>
              <a:buFont typeface="Arial"/>
              <a:buChar char="•"/>
            </a:pPr>
            <a:r>
              <a:rPr sz="12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이수 독려 및 모니터링 체계 구축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61303" y="2361819"/>
            <a:ext cx="475488" cy="292608"/>
          </a:xfrm>
          <a:prstGeom prst="rightArrow">
            <a:avLst/>
          </a:prstGeom>
          <a:solidFill>
            <a:srgbClr val="2DA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0506" y="3765463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743325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632835"/>
            <a:ext cx="5541264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기관장 청렴 의지 표명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065143"/>
            <a:ext cx="5486400" cy="1255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4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(청렴 선포식)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총장·교수회장·직원협의회장·총학생회장 참여(’25. 7. 30.)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4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(대외 협력)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4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국민권익위원회 업무협약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(’25. 4. 25.) 체결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4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(청렴 릴레이 캠페인)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총장–보직자–직원 </a:t>
            </a:r>
            <a:r>
              <a:rPr sz="14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400여 명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참여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5818" y="3674023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3651885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3541395"/>
            <a:ext cx="4736591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대상 맞춤형 교육 확대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73703"/>
            <a:ext cx="4681727" cy="1255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고위공직자 반부패 교육 이수 </a:t>
            </a:r>
            <a:r>
              <a:rPr sz="14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100%</a:t>
            </a: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달성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신규임용자·승진자 직급별 맞춤형 대면 교육(이수율 80%)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4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부산대–부산교대 학생회 통합 청렴교육(80명 참여)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430799"/>
            <a:ext cx="10881359" cy="358914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5513095"/>
            <a:ext cx="10716767" cy="1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(한계)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청렴체감도는 3등급 → </a:t>
            </a: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2등급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으로 상승하였으나 종합 청렴도는 직전 평가와 동일 → 지속적 향상 노력 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1C4FA1"/>
            </a:gs>
            <a:gs pos="60000">
              <a:srgbClr val="1C4FA1">
                <a:alpha val="85000"/>
              </a:srgbClr>
            </a:gs>
            <a:gs pos="100000">
              <a:srgbClr val="1C4FA1">
                <a:alpha val="7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890107" y="287578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01568"/>
            <a:ext cx="103628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0" spc="-10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2026학년도 주요 업무 추진계획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30">
                <a:solidFill>
                  <a:srgbClr val="BFDAF3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2027. 3. 통합대학 출범 대비  |  4개 중점 과제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2026학년도 추진계획 총괄 및 일정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613" y="1273115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9870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4개 중점 과제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84579"/>
            <a:ext cx="5367527" cy="877824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58368" y="1584579"/>
            <a:ext cx="45720" cy="87782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1703085"/>
            <a:ext cx="5104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1. 통합대학 「(가칭)직원 인사운영 지침」 마련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1959117"/>
            <a:ext cx="5104180" cy="391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양 대학 인사제도 전수 비교 → 통합 기준(안) 설계 → 의견수렴·지침 확정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1584579"/>
            <a:ext cx="5367527" cy="877824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172199" y="1584579"/>
            <a:ext cx="45720" cy="87782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36791" y="1703085"/>
            <a:ext cx="5104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2. AI 대전환에 따른 미래 대비 역량 교육 강화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1" y="1959117"/>
            <a:ext cx="5104180" cy="391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기본이해–실무활용–업무혁신 단계별 AI 교육 및 직무 전문성 지원 확대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590419"/>
            <a:ext cx="5367527" cy="877824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58368" y="2590419"/>
            <a:ext cx="45720" cy="87782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59" y="2708925"/>
            <a:ext cx="5104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3. 선제적 규정 정비 및 캠퍼스 관리체계 일원화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2964957"/>
            <a:ext cx="5104180" cy="391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규정·경비·교통·환경 4개 축의 통합 기준 정비 및 계약 일원화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199" y="2590419"/>
            <a:ext cx="5367527" cy="877824"/>
          </a:xfrm>
          <a:prstGeom prst="roundRect">
            <a:avLst>
              <a:gd name="adj" fmla="val 7291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172199" y="2590419"/>
            <a:ext cx="45720" cy="87782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36791" y="2708925"/>
            <a:ext cx="51041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4. 공공감사법 체계 전환 대응 감사체계 확립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1" y="2964957"/>
            <a:ext cx="5104180" cy="391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감사 전담 인력 확충·전문성 제고 및 신속 감사 대응체계 구축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613" y="3808670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785425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669411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연간 추진 일정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58368" y="4120134"/>
          <a:ext cx="10881358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21050"/>
                <a:gridCol w="3510116"/>
                <a:gridCol w="3978131"/>
                <a:gridCol w="1872061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과제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상반기 (3~6월)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하반기 (7~12월)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완료 목표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① 인사운영 지침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통합 인사 TF 구성(3.31.) · 인사제도 전수조사(4월말)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분야별 통합 시나리오(9월말) · 이해관계자 의견수렴(10~11월말)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’26. 12월말 확정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② AI 역량 교육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위탁교육 상시 지원(3월~) · AI 실무 활용 교육 운영(4월~)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직무능력개발비 지원(5월~) 지속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’27. 1월 성과 분석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③ 규정·캠퍼스 관리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규정 통합 실무 TF 구성·운영(6월~)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통합방범시스템 계약(7월~) · 주차·환경 관리체계 정비(9월~)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’27. 2월 계약 만료 대응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④ 감사체계 확립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감사 체계 구축 및 감사 역량 강화 계획·시행(3월~)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감사 대응체계 구축 · 부패 관행 근절 특정감사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교육부 종합감사 대비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통합대학 「(가칭)직원 인사운영 지침」 마련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133856"/>
            <a:ext cx="3749039" cy="2487168"/>
          </a:xfrm>
          <a:prstGeom prst="roundRect">
            <a:avLst>
              <a:gd name="adj" fmla="val 3676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1371600"/>
            <a:ext cx="3273551" cy="288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700" b="0" spc="-3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배경 및 목적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" y="1751806"/>
            <a:ext cx="566928" cy="0"/>
          </a:xfrm>
          <a:prstGeom prst="line">
            <a:avLst/>
          </a:prstGeom>
          <a:ln w="25400">
            <a:solidFill>
              <a:srgbClr val="2DA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6112" y="1879822"/>
            <a:ext cx="3273551" cy="6797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2027년 3월 부산교대와 통합</a:t>
            </a: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을 앞두고 있으며, 양 대학은 직종 구성·직급체계·보수수준·복무 및 평가제도 등 인사운영 전반에 차이가 존재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51051"/>
            <a:ext cx="3273551" cy="732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통합 이후 조직 안정 및 구성원 신뢰 확보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통합대학 출범 이전 인사운영 기본 원칙·적용 기준 사전 정비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5578" y="1266484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244346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1133856"/>
            <a:ext cx="6656831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현황 및 문제점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1566164"/>
            <a:ext cx="6601968" cy="132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양 대학 의견을 최대한 존중한다는 </a:t>
            </a: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운영 방향은 설정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되어 있으나 세부 사항에 대한 합의는 미비</a:t>
            </a:r>
          </a:p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40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직종·고용형태·보수체계·복무·평가·승진·전보·포상·교육이수 기준 등 인사제도 전반에 차이 존재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49867"/>
            <a:ext cx="6876288" cy="178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707070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* 부산대학교–부산교육대학교 통합신청서(2025. 5., p.117) ‘직원 인사제도 &lt;제도운영방향&gt;’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613" y="3943163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19918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803904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업무 추진(개선) 방안</a:t>
            </a:r>
          </a:p>
        </p:txBody>
      </p:sp>
      <p:sp>
        <p:nvSpPr>
          <p:cNvPr id="22" name="Pentagon 21"/>
          <p:cNvSpPr/>
          <p:nvPr/>
        </p:nvSpPr>
        <p:spPr>
          <a:xfrm>
            <a:off x="658368" y="4254627"/>
            <a:ext cx="3566160" cy="1335024"/>
          </a:xfrm>
          <a:prstGeom prst="homePlate">
            <a:avLst/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lnSpc>
                <a:spcPct val="105000"/>
              </a:lnSpc>
            </a:pPr>
            <a:r>
              <a:rPr sz="1000" b="0" spc="50">
                <a:solidFill>
                  <a:srgbClr val="CFE7FA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1 단계</a:t>
            </a:r>
          </a:p>
          <a:p>
            <a:pPr algn="ctr">
              <a:lnSpc>
                <a:spcPct val="114999"/>
              </a:lnSpc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제도 비교 및 정밀 진단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</a:pPr>
            <a:r>
              <a:rPr sz="100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양 대학 인사제도 전수 비교 분석
분야별(인사·평가·교육·노사) 대응체계(매핑) 설정</a:t>
            </a:r>
          </a:p>
        </p:txBody>
      </p:sp>
      <p:sp>
        <p:nvSpPr>
          <p:cNvPr id="23" name="Chevron 22"/>
          <p:cNvSpPr/>
          <p:nvPr/>
        </p:nvSpPr>
        <p:spPr>
          <a:xfrm>
            <a:off x="4315968" y="4254627"/>
            <a:ext cx="3566160" cy="1335024"/>
          </a:xfrm>
          <a:prstGeom prst="chevron">
            <a:avLst/>
          </a:prstGeom>
          <a:solidFill>
            <a:srgbClr val="24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lnSpc>
                <a:spcPct val="105000"/>
              </a:lnSpc>
            </a:pPr>
            <a:r>
              <a:rPr sz="1000" b="0" spc="50">
                <a:solidFill>
                  <a:srgbClr val="CFE7FA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2 단계</a:t>
            </a:r>
          </a:p>
          <a:p>
            <a:pPr algn="ctr">
              <a:lnSpc>
                <a:spcPct val="114999"/>
              </a:lnSpc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통합 인사운영 기준(안) 설계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</a:pPr>
            <a:r>
              <a:rPr sz="100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직종별 통합·별도 적용 기준 수립
보수체계 조정·평가·승진·교육이수 기준 일원화</a:t>
            </a:r>
          </a:p>
        </p:txBody>
      </p:sp>
      <p:sp>
        <p:nvSpPr>
          <p:cNvPr id="24" name="Chevron 23"/>
          <p:cNvSpPr/>
          <p:nvPr/>
        </p:nvSpPr>
        <p:spPr>
          <a:xfrm>
            <a:off x="7973568" y="4254627"/>
            <a:ext cx="3566160" cy="1335024"/>
          </a:xfrm>
          <a:prstGeom prst="chevron">
            <a:avLst/>
          </a:prstGeom>
          <a:solidFill>
            <a:srgbClr val="2DA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lnSpc>
                <a:spcPct val="105000"/>
              </a:lnSpc>
            </a:pPr>
            <a:r>
              <a:rPr sz="1000" b="0" spc="50">
                <a:solidFill>
                  <a:srgbClr val="CFE7FA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3 단계</a:t>
            </a:r>
          </a:p>
          <a:p>
            <a:pPr algn="ctr">
              <a:lnSpc>
                <a:spcPct val="114999"/>
              </a:lnSpc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의견수렴 및 지침 확정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</a:pPr>
            <a:r>
              <a:rPr sz="100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직종별 간담회·직원대표 협의를 통한
수용성 제고 후 지침 확정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717667"/>
            <a:ext cx="10881359" cy="553237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5799963"/>
            <a:ext cx="10716767" cy="3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교대와 </a:t>
            </a: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통합 인사 TF 구성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후 모든 단계 협업 진행  |  TF 구성 ’26. 3. 31. → 전수조사 4월말 → 시나리오 9월말 → 의견수렴 10~11월말 → 지침 확정 12월말 → 시행 ’27. 3월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AI 대전환에 따른 미래 대비 역량 교육 강화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0506" y="1266484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4346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5358383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배경 및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566164"/>
            <a:ext cx="5303520" cy="18978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3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AI 리터러시가 필수 역량으로 요구되며 업무 자동화 대응을 위한 </a:t>
            </a:r>
            <a:r>
              <a:rPr sz="135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업스킬링·리스킬링</a:t>
            </a:r>
            <a:r>
              <a:rPr sz="13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강조</a:t>
            </a:r>
          </a:p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150" b="1">
                <a:solidFill>
                  <a:srgbClr val="1C4FA1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(Upskilling)</a:t>
            </a:r>
            <a:r>
              <a:rPr sz="115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 </a:t>
            </a:r>
            <a:r>
              <a:rPr sz="115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기존 업무 숙련도 제고 및 더 복잡한 역할 수행 역량 강화</a:t>
            </a:r>
          </a:p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150" b="1">
                <a:solidFill>
                  <a:srgbClr val="1C4FA1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(Reskilling)</a:t>
            </a:r>
            <a:r>
              <a:rPr sz="115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 </a:t>
            </a:r>
            <a:r>
              <a:rPr sz="115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새로운 분야의 업무 수행에 필요한 기술 학습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3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기존 AI 교육의 </a:t>
            </a:r>
            <a:r>
              <a:rPr sz="135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교육과정 수·대상자 수가 제한적</a:t>
            </a:r>
            <a:r>
              <a:rPr sz="13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이고 실무중심 심화 과정 부족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427453"/>
            <a:ext cx="5303520" cy="553237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3509749"/>
            <a:ext cx="5138928" cy="3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2025년 교육훈련 만족도 조사 희망교육 1위 </a:t>
            </a: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디지털 역량 강화 교육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(2위 교양·소양, 3위 정보화) — 자발적 학습 의지 높음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133856"/>
            <a:ext cx="5157215" cy="2304288"/>
          </a:xfrm>
          <a:prstGeom prst="roundRect">
            <a:avLst>
              <a:gd name="adj" fmla="val 3968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20256" y="1371600"/>
            <a:ext cx="4681727" cy="271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600" b="0" spc="-30">
                <a:solidFill>
                  <a:srgbClr val="262626"/>
                </a:solidFill>
                <a:latin typeface="페이퍼로지 9 Black"/>
                <a:ea typeface="페이퍼로지 9 Black"/>
                <a:cs typeface="페이퍼로지 9 Black"/>
              </a:rPr>
              <a:t xml:space="preserve">추진 일정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20256" y="1734820"/>
            <a:ext cx="566928" cy="0"/>
          </a:xfrm>
          <a:prstGeom prst="line">
            <a:avLst/>
          </a:prstGeom>
          <a:ln w="25400">
            <a:solidFill>
              <a:srgbClr val="1C4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20256" y="1862836"/>
            <a:ext cx="4681727" cy="1337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1C4FA1"/>
              </a:buClr>
              <a:buFont typeface="Arial"/>
              <a:buChar char="•"/>
            </a:pPr>
            <a:r>
              <a:rPr sz="11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(외부)</a:t>
            </a: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</a:t>
            </a: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교육훈련기관 위탁교육 상시 지원 : </a:t>
            </a:r>
            <a:r>
              <a:rPr sz="11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’26. 3월 ~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1C4FA1"/>
              </a:buClr>
              <a:buFont typeface="Arial"/>
              <a:buChar char="•"/>
            </a:pP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2026년 AI 실무 활용 교육 운영 : </a:t>
            </a:r>
            <a:r>
              <a:rPr sz="11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’26. 4월 ~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1C4FA1"/>
              </a:buClr>
              <a:buFont typeface="Arial"/>
              <a:buChar char="•"/>
            </a:pP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2026년 직무능력개발비 지원 : </a:t>
            </a:r>
            <a:r>
              <a:rPr sz="11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’26. 5월 ~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1C4FA1"/>
              </a:buClr>
              <a:buFont typeface="Arial"/>
              <a:buChar char="•"/>
            </a:pP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교육 만족도 조사 및 성과 분석 : </a:t>
            </a:r>
            <a:r>
              <a:rPr sz="11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’27. 1월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613" y="4107755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084510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968496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업무 추진(개선) 방안</a:t>
            </a:r>
          </a:p>
        </p:txBody>
      </p:sp>
      <p:sp>
        <p:nvSpPr>
          <p:cNvPr id="22" name="Pentagon 21"/>
          <p:cNvSpPr/>
          <p:nvPr/>
        </p:nvSpPr>
        <p:spPr>
          <a:xfrm>
            <a:off x="658368" y="4419219"/>
            <a:ext cx="3566160" cy="713232"/>
          </a:xfrm>
          <a:prstGeom prst="homePlate">
            <a:avLst/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lnSpc>
                <a:spcPct val="114999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기본이해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AI 기초 지식 습득</a:t>
            </a:r>
          </a:p>
        </p:txBody>
      </p:sp>
      <p:sp>
        <p:nvSpPr>
          <p:cNvPr id="23" name="Chevron 22"/>
          <p:cNvSpPr/>
          <p:nvPr/>
        </p:nvSpPr>
        <p:spPr>
          <a:xfrm>
            <a:off x="4315968" y="4419219"/>
            <a:ext cx="3566160" cy="713232"/>
          </a:xfrm>
          <a:prstGeom prst="chevron">
            <a:avLst/>
          </a:prstGeom>
          <a:solidFill>
            <a:srgbClr val="24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lnSpc>
                <a:spcPct val="114999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실무활용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생성형 AI 활용 실습</a:t>
            </a:r>
          </a:p>
        </p:txBody>
      </p:sp>
      <p:sp>
        <p:nvSpPr>
          <p:cNvPr id="24" name="Chevron 23"/>
          <p:cNvSpPr/>
          <p:nvPr/>
        </p:nvSpPr>
        <p:spPr>
          <a:xfrm>
            <a:off x="7973568" y="4419219"/>
            <a:ext cx="3566160" cy="713232"/>
          </a:xfrm>
          <a:prstGeom prst="chevron">
            <a:avLst/>
          </a:prstGeom>
          <a:solidFill>
            <a:srgbClr val="2DA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lnSpc>
                <a:spcPct val="114999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업무혁신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업무 프로세스·행정서비스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260467"/>
            <a:ext cx="5120640" cy="11001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25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(단계별 맞춤형 커리큘럼)</a:t>
            </a:r>
            <a:r>
              <a:rPr sz="12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2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직급별 업무 특성·숙련도를 고려한 입문·실무·심화 과정 세분화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25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(인프라·접근성 제고)</a:t>
            </a:r>
            <a:r>
              <a:rPr sz="12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2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연 2회 실습 중심 집합교육, 사이버교육 개설, 외부기관 연계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5260467"/>
            <a:ext cx="5120640" cy="11001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25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(전문기관 위탁교육 활성화)</a:t>
            </a:r>
            <a:r>
              <a:rPr sz="12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2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예산·감사·개인정보보호 등 전문 직무 위탁교육 지원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25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(직무능력개발비 내실화)</a:t>
            </a:r>
            <a:r>
              <a:rPr sz="12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25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민간교육 이수 및 특수직무 자격증 취득 지원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05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통합대학 안착을 위한 선제적 규정 정비 및 캠퍼스 관리체계 일원화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0506" y="1266484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4346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4992624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배경 및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566164"/>
            <a:ext cx="4937760" cy="1136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3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(행정 기반 조기 구축)</a:t>
            </a:r>
            <a:r>
              <a:rPr sz="13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3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부산대–부산교대 통합에 따른 학칙·규정 통합으로 법적·행정적 운영 근거 확립</a:t>
            </a:r>
          </a:p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3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(관리 효율성 제고)</a:t>
            </a:r>
            <a:r>
              <a:rPr sz="13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 </a:t>
            </a:r>
            <a:r>
              <a:rPr sz="13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상이한 조직 체계 및 자원 관리 방식을 일원화하여 행정 소모 방지 및 이용자 편의 제고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2666415"/>
          <a:ext cx="5212079" cy="6217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72107"/>
                <a:gridCol w="1719986"/>
                <a:gridCol w="1719986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구분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부산대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부산교대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학칙 및 규정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317개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104개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58368" y="3379647"/>
            <a:ext cx="5212080" cy="721061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461943"/>
            <a:ext cx="5047488" cy="556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0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(경비)</a:t>
            </a: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</a:t>
            </a: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부산대 유인·무인경비 이원화, 교대 유인경비 미운영  (교통) 주차요금·감면 등 교통관리기준 상이  (환경) 폐기물 처리방법·환경관리 인력 운영 기준 상이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1133856"/>
            <a:ext cx="5522975" cy="2651760"/>
          </a:xfrm>
          <a:prstGeom prst="roundRect">
            <a:avLst>
              <a:gd name="adj" fmla="val 3448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54496" y="1371600"/>
            <a:ext cx="5047488" cy="271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600" b="0" spc="-3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추진 일정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54496" y="1734820"/>
            <a:ext cx="566928" cy="0"/>
          </a:xfrm>
          <a:prstGeom prst="line">
            <a:avLst/>
          </a:prstGeom>
          <a:ln w="25400">
            <a:solidFill>
              <a:srgbClr val="2DA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54496" y="1862836"/>
            <a:ext cx="5047488" cy="1685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규정 통합 실무 TF 구성 및 운영 : </a:t>
            </a: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’26. 6월 ~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통합방범시스템 계약 추진 : </a:t>
            </a: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’26. 7월 ~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주차관리체계 분석 및 시스템 단일화 : </a:t>
            </a: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’26. 9월 ~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환경관리인력 현황 분석 및 관리 체계 편입 : </a:t>
            </a: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’26. 9월 ~</a:t>
            </a:r>
          </a:p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양 대학 무인경비용역 기간 만료 : </a:t>
            </a: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’27. 2월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613" y="4327211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303966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87952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4개 축별 업무 추진 방안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38675"/>
            <a:ext cx="2610611" cy="1481328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58368" y="4638675"/>
            <a:ext cx="45720" cy="148132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59" y="4757181"/>
            <a:ext cx="2347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규정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13213"/>
            <a:ext cx="2347264" cy="99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본부 중심 실무 TF를 구성·운영하여 양 대학 학칙 등 주요 규정을 대조 분석하고, 중요도·시급성에 따라 단계별(통합 전/후) 제·개정 추진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15283" y="4638675"/>
            <a:ext cx="2610611" cy="1481328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415283" y="4638675"/>
            <a:ext cx="45720" cy="148132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79875" y="4757181"/>
            <a:ext cx="2347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경비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9875" y="5013213"/>
            <a:ext cx="2347264" cy="99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양 대학 무인경비용역 기간 만료(’27. 2월)에 따라 4개 캠퍼스(부산·양산·밀양·연제) 3개년 통합방범시스템 계약 추진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199" y="4638675"/>
            <a:ext cx="2610611" cy="1481328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172199" y="4638675"/>
            <a:ext cx="45720" cy="148132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36791" y="4757181"/>
            <a:ext cx="2347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교통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1" y="5013213"/>
            <a:ext cx="2347264" cy="99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주차요금 및 감면기준 조정, 정기권 발급 기준 점검 등 주차 관리시스템 단일화 추진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9115" y="4638675"/>
            <a:ext cx="2610611" cy="1481328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929115" y="4638675"/>
            <a:ext cx="45720" cy="1481328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93707" y="4757181"/>
            <a:ext cx="2347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환경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3707" y="5013213"/>
            <a:ext cx="2347264" cy="99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>
              <a:lnSpc>
                <a:spcPct val="130000"/>
              </a:lnSpc>
              <a:spcBef>
                <a:spcPts val="200"/>
              </a:spcBef>
              <a:buNone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청소 면적 기준 재정립을 통한 환경관리인력 재배치, 임금·정년기준 단일화, 폐기물 처리 일괄 계약 등 관리 효율화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공공감사법 체계 전환에 따른 전문성 강화 및 감사체계 확립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133856"/>
            <a:ext cx="3749039" cy="2304288"/>
          </a:xfrm>
          <a:prstGeom prst="roundRect">
            <a:avLst>
              <a:gd name="adj" fmla="val 3968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1371600"/>
            <a:ext cx="3273551" cy="288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700" b="0" spc="-3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배경 및 목적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" y="1751806"/>
            <a:ext cx="566928" cy="0"/>
          </a:xfrm>
          <a:prstGeom prst="line">
            <a:avLst/>
          </a:prstGeom>
          <a:ln w="25400">
            <a:solidFill>
              <a:srgbClr val="2DA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6112" y="1879822"/>
            <a:ext cx="3273551" cy="906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감사원이 국립대를 「공공감사에 관한 법률」 적용 기관으로 </a:t>
            </a:r>
            <a:r>
              <a:rPr sz="1150" b="1">
                <a:solidFill>
                  <a:srgbClr val="8ED8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신규 지정</a:t>
            </a: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(’25. 2. 21.)함에 따라 감사 전담 조직·인력 등 자체감사 체계 확립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77648"/>
            <a:ext cx="3273551" cy="322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55448" indent="-155448">
              <a:lnSpc>
                <a:spcPct val="135000"/>
              </a:lnSpc>
              <a:spcBef>
                <a:spcPts val="400"/>
              </a:spcBef>
              <a:buClr>
                <a:srgbClr val="8ED8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감사원 「2026년도 자체감사 운영지침」에 따른 자체감사 계획 수립·운영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5578" y="1266484"/>
            <a:ext cx="96252" cy="96252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244346"/>
            <a:ext cx="96252" cy="96252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1133856"/>
            <a:ext cx="6656831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0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현황 및 문제점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1566164"/>
            <a:ext cx="6601968" cy="1632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01752" indent="-182880">
              <a:lnSpc>
                <a:spcPct val="135000"/>
              </a:lnSpc>
              <a:spcBef>
                <a:spcPts val="0"/>
              </a:spcBef>
              <a:buClr>
                <a:srgbClr val="1C4FA1"/>
              </a:buClr>
              <a:buFont typeface="Arial"/>
              <a:buChar char="•"/>
            </a:pP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대학의 사회적 책임성은 강화되고 있으나, 대학 감사 업무는 </a:t>
            </a:r>
            <a:r>
              <a:rPr sz="1700" b="1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민원 행정업무 성격</a:t>
            </a:r>
            <a:r>
              <a:rPr sz="1700" b="0">
                <a:solidFill>
                  <a:srgbClr val="262626"/>
                </a:solidFill>
                <a:latin typeface="페이퍼로지 7 Bold"/>
                <a:ea typeface="페이퍼로지 7 Bold"/>
                <a:cs typeface="페이퍼로지 7 Bold"/>
              </a:rPr>
              <a:t xml:space="preserve">이 강하고 전문 감사를 위한 전담 인력·조직이 미흡</a:t>
            </a:r>
          </a:p>
          <a:p>
            <a:pPr marL="713232" indent="-274320">
              <a:lnSpc>
                <a:spcPct val="135000"/>
              </a:lnSpc>
              <a:spcBef>
                <a:spcPts val="200"/>
              </a:spcBef>
              <a:buClr>
                <a:srgbClr val="1C4FA1"/>
              </a:buClr>
              <a:buFont typeface="공체 Bold"/>
              <a:buChar char="－"/>
            </a:pPr>
            <a:r>
              <a:rPr sz="1400" b="0">
                <a:solidFill>
                  <a:srgbClr val="262626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’25년 사안감사 11건으로 급증(전년 1건)하여 종합감사 미완료 — 인력 부족 상시화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3161734"/>
            <a:ext cx="6601968" cy="358914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0055" y="3244030"/>
            <a:ext cx="6437376" cy="194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교육부 감사 주기(10년)를 고려할 때 </a:t>
            </a:r>
            <a:r>
              <a:rPr sz="110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2026년 교육부 종합감사 대비 필요</a:t>
            </a:r>
            <a:r>
              <a:rPr sz="110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(직전 수감 2016년)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613" y="3851723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828478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712463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업무 추진 방안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63187"/>
            <a:ext cx="3529583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58368" y="4163187"/>
            <a:ext cx="45720" cy="188366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59" y="4281693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감사 체계 고도화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537725"/>
            <a:ext cx="3266236" cy="13972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행정·민원성 업무에 치중된 감사팀 기능을 전문 감사 기능으로 전환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감사전담인력 </a:t>
            </a:r>
            <a:r>
              <a:rPr sz="10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+1명 증원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개인별 감사교육 이수 의무화(연 50시간 이상)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감사학습동아리(실무중심) 정례화(월 2회)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5" y="4163187"/>
            <a:ext cx="3529583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334255" y="4163187"/>
            <a:ext cx="45720" cy="188366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98847" y="4281693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감사 대응체계 구축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7" y="4537725"/>
            <a:ext cx="3266236" cy="13972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다양한 감사 제보 및 외부 감사 신속 대응체계 구축(전담인력 배정)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사안감사 제보 처리 절차 마련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사안감사 </a:t>
            </a:r>
            <a:r>
              <a:rPr sz="10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완료 기한 60일 이내</a:t>
            </a: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설정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교육부·감사원·권익위 조사 착수 시 감사팀 중심 대응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4163187"/>
            <a:ext cx="3529583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010144" y="4163187"/>
            <a:ext cx="45720" cy="1883664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74736" y="4281693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부패 관행 근절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4537725"/>
            <a:ext cx="3266236" cy="13972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부패 유발 가능 행정에 대한 입체적 점검 강화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분야별 특정감사 실시로 행정 책임성 강화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소극 행정(근무태만·업무미숙지) 처리 실태 조사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감사 사각 분야(재정지원사업 채용·인사·운영) 발굴·점검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1C4FA1"/>
            </a:gs>
            <a:gs pos="60000">
              <a:srgbClr val="1C4FA1">
                <a:alpha val="85000"/>
              </a:srgbClr>
            </a:gs>
            <a:gs pos="100000">
              <a:srgbClr val="1C4FA1">
                <a:alpha val="7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890107" y="287578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01568"/>
            <a:ext cx="103628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0" spc="-10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총장공약사업 추진현황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30">
                <a:solidFill>
                  <a:srgbClr val="BFDAF3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총무과 소관 14개 공약  |  완료 2건 · 정상추진 12건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총무과 소관 총장공약사업 14건 이행 현황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133856"/>
          <a:ext cx="535838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0925"/>
                <a:gridCol w="3375781"/>
                <a:gridCol w="1071676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공약코드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공약사업명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이행도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4-2-1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각종 규제개선 및 행정효율화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4-3-3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수입대체기관 운영 체계화를 통한 대학 재정 확대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4-4-1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학내 구성원–총장 간 소통 강화 ‘열린총장실’ 운영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완료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5-1-1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국립대학회계 지원 확대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5-1-2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고등교육 예산 확충 노력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완료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5-1-4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교육시설 예산 추가 확보를 통한 노후시설 개선 가속화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5-1-5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각 대학 비전 및 성과지표 연계 재정 운영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44768" y="1133856"/>
          <a:ext cx="5394959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7143"/>
                <a:gridCol w="3398824"/>
                <a:gridCol w="1078992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공약코드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공약사업명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  <a:cs typeface="페이퍼로지 6 SemiBold"/>
                        </a:rPr>
                        <a:t xml:space="preserve">이행도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1C4FA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6-2-1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맞춤형 교육 및 해외 연수를 통한 직원 역량 강화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6-2-2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행정지원인력 공유시스템을 이용한 출산/육아 공백기 보충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6-2-3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적극행정 및 업무개선에 대한 인센티브 확대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6-4-2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직장보육시설 운영 활성화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7-3-2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캠퍼스 주요 녹지축 정비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7-4-1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모든 구성원이 편리하게 이동하고 쉴 수 있는 무장애 캠퍼스 조성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7-4-2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스마트 주차 및 충전 인프라 확충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262626"/>
                          </a:solidFill>
                          <a:latin typeface="페이퍼로지 4 Regular"/>
                          <a:ea typeface="페이퍼로지 4 Regular"/>
                          <a:cs typeface="페이퍼로지 4 Regular"/>
                        </a:rPr>
                        <a:t xml:space="preserve">정상추진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D0E8"/>
                      </a:solidFill>
                      <a:prstDash val="solid"/>
                    </a:lnL>
                    <a:lnR w="9525" cap="flat" cmpd="sng" algn="ctr">
                      <a:solidFill>
                        <a:srgbClr val="BFD0E8"/>
                      </a:solidFill>
                      <a:prstDash val="solid"/>
                    </a:lnR>
                    <a:lnT w="9525" cap="flat" cmpd="sng" algn="ctr">
                      <a:solidFill>
                        <a:srgbClr val="BFD0E8"/>
                      </a:solidFill>
                      <a:prstDash val="solid"/>
                    </a:lnT>
                    <a:lnB w="9525" cap="flat" cmpd="sng" algn="ctr">
                      <a:solidFill>
                        <a:srgbClr val="BFD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58368" y="5797296"/>
            <a:ext cx="10881359" cy="367747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5879592"/>
            <a:ext cx="10716767" cy="203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※ </a:t>
            </a: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총 14건 중 </a:t>
            </a:r>
            <a:r>
              <a:rPr sz="11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완료 2건</a:t>
            </a: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(4-4-1 열린총장실, 5-1-2 고등교육 예산 확충), </a:t>
            </a:r>
            <a:r>
              <a:rPr sz="11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정상추진 12건</a:t>
            </a:r>
            <a:r>
              <a:rPr sz="11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— 중단·부진 사업 없음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7364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3685" y="0"/>
            <a:ext cx="541881" cy="707886"/>
          </a:xfrm>
          <a:custGeom>
            <a:avLst/>
            <a:gdLst/>
            <a:ahLst/>
            <a:cxnLst/>
            <a:rect l="l" t="t" r="r" b="b"/>
            <a:pathLst>
              <a:path w="581025" h="644664">
                <a:moveTo>
                  <a:pt x="0" y="0"/>
                </a:moveTo>
                <a:lnTo>
                  <a:pt x="581025" y="0"/>
                </a:lnTo>
                <a:lnTo>
                  <a:pt x="581025" y="500198"/>
                </a:lnTo>
                <a:cubicBezTo>
                  <a:pt x="581025" y="579984"/>
                  <a:pt x="516345" y="644664"/>
                  <a:pt x="436559" y="644664"/>
                </a:cubicBezTo>
                <a:lnTo>
                  <a:pt x="144466" y="644664"/>
                </a:lnTo>
                <a:cubicBezTo>
                  <a:pt x="64680" y="644664"/>
                  <a:pt x="0" y="579984"/>
                  <a:pt x="0" y="500198"/>
                </a:cubicBezTo>
                <a:close/>
              </a:path>
            </a:pathLst>
          </a:cu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3685" y="155448"/>
            <a:ext cx="5418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페이퍼로지 9 Black"/>
                <a:ea typeface="페이퍼로지 9 Black"/>
                <a:cs typeface="페이퍼로지 9 Black"/>
              </a:rPr>
              <a:t xml:space="preserve"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"/>
            <a:ext cx="8375904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2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총장공약사업 주요 추진성과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10928" y="182880"/>
            <a:ext cx="0" cy="548640"/>
          </a:xfrm>
          <a:prstGeom prst="line">
            <a:avLst/>
          </a:prstGeom>
          <a:ln w="12700">
            <a:solidFill>
              <a:srgbClr val="BFD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38944" y="182880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00" b="0" spc="-3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부산대학교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PUSAN NATIONAL</a:t>
            </a:r>
          </a:p>
          <a:p>
            <a:pPr>
              <a:lnSpc>
                <a:spcPct val="100000"/>
              </a:lnSpc>
            </a:pPr>
            <a:r>
              <a:rPr sz="750" b="0" spc="3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UNIVERSITY</a:t>
            </a:r>
          </a:p>
        </p:txBody>
      </p:sp>
      <p:pic>
        <p:nvPicPr>
          <p:cNvPr id="8" name="Picture 7" descr="pnu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6" y="155448"/>
            <a:ext cx="621792" cy="621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613" y="1273115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49870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133856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재정 확충 성과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84579"/>
            <a:ext cx="3541775" cy="896112"/>
          </a:xfrm>
          <a:prstGeom prst="roundRect">
            <a:avLst>
              <a:gd name="adj" fmla="val 7142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58368" y="1584579"/>
            <a:ext cx="50292" cy="896112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1685163"/>
            <a:ext cx="326745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171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억원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019376"/>
            <a:ext cx="3267456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교육시설 예산 추가 확보
(리모델링 60·공동구 30·양산 81억원)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8159" y="1584579"/>
            <a:ext cx="3541775" cy="896112"/>
          </a:xfrm>
          <a:prstGeom prst="roundRect">
            <a:avLst>
              <a:gd name="adj" fmla="val 7142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328159" y="1584579"/>
            <a:ext cx="50292" cy="896112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11039" y="1685163"/>
            <a:ext cx="326745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8,843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백만원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1039" y="2019376"/>
            <a:ext cx="3267456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국립대학 기본경비
(’24년 8,388백만원 → 5% 증가)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7951" y="1584579"/>
            <a:ext cx="3541775" cy="896112"/>
          </a:xfrm>
          <a:prstGeom prst="roundRect">
            <a:avLst>
              <a:gd name="adj" fmla="val 7142"/>
            </a:avLst>
          </a:prstGeom>
          <a:solidFill>
            <a:srgbClr val="F4F7FC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997951" y="1584579"/>
            <a:ext cx="50292" cy="896112"/>
          </a:xfrm>
          <a:prstGeom prst="roundRect">
            <a:avLst>
              <a:gd name="adj" fmla="val 36363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80831" y="1685163"/>
            <a:ext cx="3267456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500" b="0" spc="-6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5</a:t>
            </a:r>
            <a:r>
              <a:rPr sz="1250" b="0">
                <a:solidFill>
                  <a:srgbClr val="2DA7E0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 년 연장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0831" y="2019376"/>
            <a:ext cx="3267456" cy="342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707070"/>
                </a:solidFill>
                <a:latin typeface="페이퍼로지 5 Medium"/>
                <a:ea typeface="페이퍼로지 5 Medium"/>
                <a:cs typeface="페이퍼로지 5 Medium"/>
              </a:rPr>
              <a:t xml:space="preserve">고등·평생교육지원특별회계
(’25년 일몰 → ’30. 12. 31.까지)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613" y="2839406"/>
            <a:ext cx="101065" cy="101065"/>
          </a:xfrm>
          <a:prstGeom prst="rect">
            <a:avLst/>
          </a:prstGeom>
          <a:noFill/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2816161"/>
            <a:ext cx="101065" cy="101065"/>
          </a:xfrm>
          <a:prstGeom prst="rect">
            <a:avLst/>
          </a:prstGeom>
          <a:solidFill>
            <a:srgbClr val="1C4FA1"/>
          </a:solidFill>
          <a:ln w="9525">
            <a:solidFill>
              <a:srgbClr val="1C4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700147"/>
            <a:ext cx="10661903" cy="3867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0" spc="-50">
                <a:solidFill>
                  <a:srgbClr val="1C4FA1"/>
                </a:solidFill>
                <a:latin typeface="페이퍼로지 9 Black"/>
                <a:ea typeface="페이퍼로지 9 Black"/>
                <a:cs typeface="페이퍼로지 9 Black"/>
              </a:rPr>
              <a:t xml:space="preserve">캠퍼스 환경 및 조직 운영 성과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150870"/>
            <a:ext cx="3529583" cy="976629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58368" y="3150870"/>
            <a:ext cx="45720" cy="976629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59" y="3269376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행정효율화 (4-2-1)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525408"/>
            <a:ext cx="3266236" cy="490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규정 개정 절차 간소화(명칭 변경 규정 일괄 개정)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온라인 전자재실시스템(’24) · 모바일 앱 출입 관리(’25)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3150870"/>
            <a:ext cx="3529583" cy="976629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334255" y="3150870"/>
            <a:ext cx="45720" cy="976629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98847" y="3269376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무장애 캠퍼스 (7-4-1)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7" y="3525408"/>
            <a:ext cx="3266236" cy="490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승강기 교체 </a:t>
            </a:r>
            <a:r>
              <a:rPr sz="10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7개소</a:t>
            </a: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(성학관 등) · 증축 </a:t>
            </a:r>
            <a:r>
              <a:rPr sz="10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6개동</a:t>
            </a: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(경영관 등) 완료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수직이동 편의 증진 및 장애인 학습권 보장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3150870"/>
            <a:ext cx="3529583" cy="976629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010144" y="3150870"/>
            <a:ext cx="45720" cy="976629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74736" y="3269376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스마트 주차·충전 (7-4-2)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3525408"/>
            <a:ext cx="3266236" cy="490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넉넉한터 스마트 주차장(주차현황 안내시스템) 설치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출입문 4곳 주차현황판 운영 · 전기차 충전소 70개소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255516"/>
            <a:ext cx="3529583" cy="976629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658368" y="4255516"/>
            <a:ext cx="45720" cy="976629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59" y="4374022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직원 사기 진작 (6-2-3)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" y="4630054"/>
            <a:ext cx="3266236" cy="490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우수직원상 31명 · 올해의 신인상 7명 · 동반성장협업상 2점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장기근속상(20년 이상) 표창 및 부상 수여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34255" y="4255516"/>
            <a:ext cx="3529583" cy="976629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4334255" y="4255516"/>
            <a:ext cx="45720" cy="976629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98847" y="4374022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녹지축 정비 (7-3-2)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7" y="4630054"/>
            <a:ext cx="3266236" cy="490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미리내계곡 일원 위험수목 등 </a:t>
            </a:r>
            <a:r>
              <a:rPr sz="10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231주</a:t>
            </a: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정비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문창대 진입로 일원 고사목 등 </a:t>
            </a:r>
            <a:r>
              <a:rPr sz="1050" b="1">
                <a:solidFill>
                  <a:srgbClr val="1C4FA1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134주</a:t>
            </a: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 정비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10144" y="4255516"/>
            <a:ext cx="3529583" cy="976629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8010144" y="4255516"/>
            <a:ext cx="45720" cy="976629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74736" y="4374022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직원 역량 강화 (6-2-1)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74736" y="4630054"/>
            <a:ext cx="3266236" cy="490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외부교육훈련 교육비 지원 상향(1인당 40만원)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민간 교육프로그램 학습 지원(1인당 60만원)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360162"/>
            <a:ext cx="3529583" cy="976629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658368" y="5360162"/>
            <a:ext cx="45720" cy="976629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59" y="5478668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수입대체기관 운영 (4-3-3)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59" y="5734700"/>
            <a:ext cx="3266236" cy="490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수입대체경비 예산운영 개선 계획(안) 시행(’24. 9월)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’25학년도 전 기관 집행현황 점검(’25.12~’26.1.)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34255" y="5360162"/>
            <a:ext cx="3529583" cy="976629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334255" y="5360162"/>
            <a:ext cx="45720" cy="976629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498847" y="5478668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열린총장실 (4-4-1)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8847" y="5734700"/>
            <a:ext cx="3266236" cy="490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홈페이지 ‘열린총장실’ 리뉴얼 · 소통창구 ‘소통365’ 신설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대면 열린 소통실 운영 · 찾아가는 멀티캠퍼스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10144" y="5360162"/>
            <a:ext cx="3529583" cy="976629"/>
          </a:xfrm>
          <a:prstGeom prst="roundRect">
            <a:avLst>
              <a:gd name="adj" fmla="val 6553"/>
            </a:avLst>
          </a:prstGeom>
          <a:solidFill>
            <a:srgbClr val="FFFFFF"/>
          </a:solidFill>
          <a:ln w="9525">
            <a:solidFill>
              <a:srgbClr val="BF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8010144" y="5360162"/>
            <a:ext cx="45720" cy="976629"/>
          </a:xfrm>
          <a:prstGeom prst="roundRect">
            <a:avLst>
              <a:gd name="adj" fmla="val 40000"/>
            </a:avLst>
          </a:prstGeom>
          <a:solidFill>
            <a:srgbClr val="1C4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174736" y="5478668"/>
            <a:ext cx="3266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spc="-30">
                <a:solidFill>
                  <a:srgbClr val="1C4FA1"/>
                </a:solidFill>
                <a:latin typeface="페이퍼로지 7 Bold"/>
                <a:ea typeface="페이퍼로지 7 Bold"/>
                <a:cs typeface="페이퍼로지 7 Bold"/>
              </a:rPr>
              <a:t xml:space="preserve">성과지표 연계 재정 (5-1-5)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74736" y="5734700"/>
            <a:ext cx="3266236" cy="490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PNU VISION 2030 성과코드 연계(’25. 6월)</a:t>
            </a:r>
          </a:p>
          <a:p>
            <a:pPr marL="137160" indent="-137160">
              <a:lnSpc>
                <a:spcPct val="130000"/>
              </a:lnSpc>
              <a:spcBef>
                <a:spcPts val="200"/>
              </a:spcBef>
              <a:buClr>
                <a:srgbClr val="2DA7E0"/>
              </a:buClr>
              <a:buFont typeface="Arial"/>
              <a:buChar char="•"/>
            </a:pPr>
            <a:r>
              <a:rPr sz="1050" b="0">
                <a:solidFill>
                  <a:srgbClr val="262626"/>
                </a:solidFill>
                <a:latin typeface="페이퍼로지 4 Regular"/>
                <a:ea typeface="페이퍼로지 4 Regular"/>
                <a:cs typeface="페이퍼로지 4 Regular"/>
              </a:rPr>
              <a:t xml:space="preserve">재정사업 성과평가 우수사업 인센티브 지급(’25.10월)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1C4FA1"/>
            </a:gs>
            <a:gs pos="60000">
              <a:srgbClr val="1C4FA1">
                <a:alpha val="85000"/>
              </a:srgbClr>
            </a:gs>
            <a:gs pos="100000">
              <a:srgbClr val="1C4FA1">
                <a:alpha val="7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880360"/>
            <a:ext cx="103628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0" spc="-100">
                <a:solidFill>
                  <a:srgbClr val="FFFFFF"/>
                </a:solidFill>
                <a:latin typeface="페이퍼로지 7 Bold"/>
                <a:ea typeface="페이퍼로지 7 Bold"/>
                <a:cs typeface="페이퍼로지 7 Bold"/>
              </a:rPr>
              <a:t xml:space="preserve">경청해주셔서 감사합니다.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03904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30">
                <a:solidFill>
                  <a:srgbClr val="BFDAF3"/>
                </a:solidFill>
                <a:latin typeface="페이퍼로지 6 SemiBold"/>
                <a:ea typeface="페이퍼로지 6 SemiBold"/>
                <a:cs typeface="페이퍼로지 6 SemiBold"/>
              </a:rPr>
              <a:t xml:space="preserve">2026 총무과 주요업무보고</a:t>
            </a:r>
          </a:p>
        </p:txBody>
      </p:sp>
      <p:pic>
        <p:nvPicPr>
          <p:cNvPr id="4" name="Picture 3" descr="pnu_emblem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655" y="1920240"/>
            <a:ext cx="786384" cy="786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109</Words>
  <Application>Microsoft Office PowerPoint</Application>
  <PresentationFormat>와이드스크린</PresentationFormat>
  <Paragraphs>66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페이퍼로지 7 Bold</vt:lpstr>
      <vt:lpstr>페이퍼로지 4 Regular</vt:lpstr>
      <vt:lpstr>페이퍼로지 9 Black</vt:lpstr>
      <vt:lpstr>맑은 고딕</vt:lpstr>
      <vt:lpstr>페이퍼로지 5 Medium</vt:lpstr>
      <vt:lpstr>페이퍼로지 6 SemiBold</vt:lpstr>
      <vt:lpstr>Arial</vt:lpstr>
      <vt:lpstr>공체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Ji-sup Hong</dc:creator>
  <cp:lastModifiedBy>User</cp:lastModifiedBy>
  <cp:revision>38</cp:revision>
  <dcterms:created xsi:type="dcterms:W3CDTF">2026-02-27T01:06:56Z</dcterms:created>
  <dcterms:modified xsi:type="dcterms:W3CDTF">2026-03-06T02:06:05Z</dcterms:modified>
</cp:coreProperties>
</file>